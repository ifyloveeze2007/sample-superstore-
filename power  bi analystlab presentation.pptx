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9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3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7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6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7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2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45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1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5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63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2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89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6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02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223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9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DD58482-BA25-4745-AACA-CD22E17756E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4A3B29-1DE3-49D2-91D1-065834F28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7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5E4C-7F0F-C0B1-578B-F227FB2B41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Analysis on the  </a:t>
            </a:r>
            <a:br>
              <a:rPr lang="en-US" dirty="0"/>
            </a:br>
            <a:r>
              <a:rPr lang="en-US" dirty="0"/>
              <a:t>Sample – Superstore</a:t>
            </a:r>
            <a:r>
              <a:rPr lang="en-US" sz="3200" dirty="0"/>
              <a:t>(2014-2017)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BY </a:t>
            </a:r>
            <a:br>
              <a:rPr lang="en-US" dirty="0"/>
            </a:br>
            <a:r>
              <a:rPr lang="en-US" dirty="0"/>
              <a:t>Ezeanyaso Ifeoma Love </a:t>
            </a:r>
          </a:p>
        </p:txBody>
      </p:sp>
    </p:spTree>
    <p:extLst>
      <p:ext uri="{BB962C8B-B14F-4D97-AF65-F5344CB8AC3E}">
        <p14:creationId xmlns:p14="http://schemas.microsoft.com/office/powerpoint/2010/main" val="2284738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E440-6528-3D8E-3537-54926A59B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531" y="2209800"/>
            <a:ext cx="4791869" cy="771526"/>
          </a:xfrm>
        </p:spPr>
        <p:txBody>
          <a:bodyPr>
            <a:normAutofit fontScale="90000"/>
          </a:bodyPr>
          <a:lstStyle/>
          <a:p>
            <a:r>
              <a:rPr lang="en-US" dirty="0"/>
              <a:t>Key KPIs </a:t>
            </a:r>
            <a:br>
              <a:rPr lang="en-US" dirty="0"/>
            </a:br>
            <a:r>
              <a:rPr lang="en-US" dirty="0"/>
              <a:t>overall business health 2014-2017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3818C-4E4B-3A7F-A4B8-ADA96ABE2288}"/>
              </a:ext>
            </a:extLst>
          </p:cNvPr>
          <p:cNvSpPr txBox="1"/>
          <p:nvPr/>
        </p:nvSpPr>
        <p:spPr>
          <a:xfrm>
            <a:off x="1952625" y="2209800"/>
            <a:ext cx="10067925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sz="25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total revenue  $2.3m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sz="25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total profit  $286.4k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sz="25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profit margin 12.5%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sz="25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 total orders 9994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sz="25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total loss $156.13k</a:t>
            </a:r>
            <a:br>
              <a:rPr kumimoji="0" lang="en-US" sz="36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2500" b="1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INSIGHT; </a:t>
            </a:r>
            <a:r>
              <a:rPr kumimoji="0" lang="en-US" sz="2500" b="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revenue is healthy at $2.3m but the loss of $156.13k has to be investigated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E81040-268D-8BDB-BFC1-71CDEE551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501" y="95249"/>
            <a:ext cx="5221743" cy="359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19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CC92-1AAD-BE25-D80D-BB4F18E9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4563" y="438151"/>
            <a:ext cx="8993188" cy="600074"/>
          </a:xfrm>
        </p:spPr>
        <p:txBody>
          <a:bodyPr>
            <a:noAutofit/>
          </a:bodyPr>
          <a:lstStyle/>
          <a:p>
            <a:r>
              <a:rPr lang="en-US" sz="2800" dirty="0"/>
              <a:t>Sales trend over the years</a:t>
            </a:r>
            <a:br>
              <a:rPr lang="en-US" sz="2800" dirty="0"/>
            </a:br>
            <a:r>
              <a:rPr lang="en-US" sz="2800" dirty="0"/>
              <a:t>sum of sales by year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F2F3E-5069-E8A1-6CF1-3451EFD3167D}"/>
              </a:ext>
            </a:extLst>
          </p:cNvPr>
          <p:cNvSpPr txBox="1"/>
          <p:nvPr/>
        </p:nvSpPr>
        <p:spPr>
          <a:xfrm>
            <a:off x="1484312" y="1484531"/>
            <a:ext cx="96393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kumimoji="0" lang="en-US" sz="280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year 2014 with $484k sales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n w="3175" cmpd="sng">
                  <a:noFill/>
                </a:ln>
                <a:solidFill>
                  <a:prstClr val="black"/>
                </a:solidFill>
                <a:latin typeface="Corbel" panose="020B0503020204020204"/>
                <a:ea typeface="+mj-ea"/>
                <a:cs typeface="+mj-cs"/>
              </a:rPr>
              <a:t>Year 2015 with $471k sales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kumimoji="0" lang="en-US" sz="280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Year 2016 with $609k sales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n w="3175" cmpd="sng">
                  <a:noFill/>
                </a:ln>
                <a:solidFill>
                  <a:prstClr val="black"/>
                </a:solidFill>
                <a:latin typeface="Corbel" panose="020B0503020204020204"/>
                <a:ea typeface="+mj-ea"/>
                <a:cs typeface="+mj-cs"/>
              </a:rPr>
              <a:t>Year 2017 with $733k sales</a:t>
            </a:r>
          </a:p>
          <a:p>
            <a:endParaRPr lang="en-US" sz="2800" dirty="0">
              <a:ln w="3175" cmpd="sng">
                <a:noFill/>
              </a:ln>
              <a:solidFill>
                <a:prstClr val="black"/>
              </a:solidFill>
              <a:latin typeface="Corbel" panose="020B0503020204020204"/>
              <a:ea typeface="+mj-ea"/>
              <a:cs typeface="+mj-cs"/>
            </a:endParaRPr>
          </a:p>
          <a:p>
            <a:r>
              <a:rPr lang="en-US" sz="2800" dirty="0">
                <a:ln w="3175" cmpd="sng">
                  <a:noFill/>
                </a:ln>
                <a:solidFill>
                  <a:prstClr val="black"/>
                </a:solidFill>
                <a:latin typeface="Corbel" panose="020B0503020204020204"/>
                <a:ea typeface="+mj-ea"/>
                <a:cs typeface="+mj-cs"/>
              </a:rPr>
              <a:t>INSIGHT;   in the year 2015 was a -2.7% decrease in sales from the sales of 2014, from 2015 t0 2016 there was a 29.3% growth in sales and from 2016 to 2017 there was 20.4% increase in sales.</a:t>
            </a:r>
          </a:p>
          <a:p>
            <a:r>
              <a:rPr lang="en-US" sz="2800" dirty="0">
                <a:ln w="3175" cmpd="sng">
                  <a:noFill/>
                </a:ln>
                <a:solidFill>
                  <a:prstClr val="black"/>
                </a:solidFill>
                <a:latin typeface="Corbel" panose="020B0503020204020204"/>
                <a:ea typeface="+mj-ea"/>
                <a:cs typeface="+mj-cs"/>
              </a:rPr>
              <a:t>After the 2.7% dip sales in 2015, sales grew 55.6% by 2017. </a:t>
            </a:r>
            <a:r>
              <a:rPr kumimoji="0" lang="en-US" sz="2800" i="0" u="none" strike="noStrike" kern="1200" cap="none" spc="0" normalizeH="0" baseline="0" noProof="0" dirty="0">
                <a:ln w="3175" cmpd="sng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  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0F3E0-E42A-A122-3BCD-820E37C4E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1" y="139005"/>
            <a:ext cx="4419600" cy="320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1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812E-C2AC-CD77-3914-9D592D1D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2614" y="333376"/>
            <a:ext cx="8231189" cy="342900"/>
          </a:xfrm>
        </p:spPr>
        <p:txBody>
          <a:bodyPr>
            <a:noAutofit/>
          </a:bodyPr>
          <a:lstStyle/>
          <a:p>
            <a:r>
              <a:rPr lang="en-US" sz="3200" dirty="0"/>
              <a:t>Regional performance </a:t>
            </a:r>
            <a:br>
              <a:rPr lang="en-US" sz="3200" dirty="0"/>
            </a:br>
            <a:r>
              <a:rPr lang="en-US" sz="3200" dirty="0"/>
              <a:t>sales by region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294AC-3DC0-C639-B122-F67362B8063E}"/>
              </a:ext>
            </a:extLst>
          </p:cNvPr>
          <p:cNvSpPr txBox="1"/>
          <p:nvPr/>
        </p:nvSpPr>
        <p:spPr>
          <a:xfrm>
            <a:off x="1819275" y="2052481"/>
            <a:ext cx="103727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according to the 4 regions in order of hierarchy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West:  $725.46k (31.6% of total) top performing region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East: $678.78k (29.6%)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Central: $501.24k (21.8%)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South: $391.72k(17.0%) lowest performing region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DBEB40-E735-4614-D63B-A44F72CA0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138" y="0"/>
            <a:ext cx="370272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8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912C-2BF2-720E-4F93-EED969AE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5488" y="279928"/>
            <a:ext cx="9517064" cy="866775"/>
          </a:xfrm>
        </p:spPr>
        <p:txBody>
          <a:bodyPr>
            <a:noAutofit/>
          </a:bodyPr>
          <a:lstStyle/>
          <a:p>
            <a:r>
              <a:rPr lang="en-US" sz="3200" dirty="0"/>
              <a:t>Product category analysis </a:t>
            </a:r>
            <a:br>
              <a:rPr lang="en-US" sz="3200" dirty="0"/>
            </a:br>
            <a:r>
              <a:rPr lang="en-US" sz="3200" dirty="0"/>
              <a:t>sales by category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45B7C1-226A-D9E6-5AE3-C2D473D67F43}"/>
              </a:ext>
            </a:extLst>
          </p:cNvPr>
          <p:cNvSpPr txBox="1"/>
          <p:nvPr/>
        </p:nvSpPr>
        <p:spPr>
          <a:xfrm>
            <a:off x="1371600" y="2752725"/>
            <a:ext cx="1059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a total of 3 different categories. All 3 categories are balanced, no category is really under performing. The tech category leads slightly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Technology: $836.15k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Furniture :$742k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Office supplies:$719.05k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2A675-8478-BA18-B18E-27B4B18CE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301" y="0"/>
            <a:ext cx="42291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6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D242-39CB-51D1-3626-4C55DCEC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2589" y="0"/>
            <a:ext cx="9560207" cy="1035424"/>
          </a:xfrm>
        </p:spPr>
        <p:txBody>
          <a:bodyPr>
            <a:noAutofit/>
          </a:bodyPr>
          <a:lstStyle/>
          <a:p>
            <a:r>
              <a:rPr lang="en-US" sz="3200" dirty="0"/>
              <a:t>Top customers-relationship focus </a:t>
            </a:r>
            <a:br>
              <a:rPr lang="en-US" sz="3200" dirty="0"/>
            </a:br>
            <a:r>
              <a:rPr lang="en-US" sz="3200" dirty="0"/>
              <a:t>top 5 customers by sales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0179D-F87A-A88A-0E46-44FE9F9CA832}"/>
              </a:ext>
            </a:extLst>
          </p:cNvPr>
          <p:cNvSpPr txBox="1"/>
          <p:nvPr/>
        </p:nvSpPr>
        <p:spPr>
          <a:xfrm>
            <a:off x="1258746" y="1988998"/>
            <a:ext cx="9674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Sean Miller :$25.04k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Tamara Chand: $19.05k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Raymond Buch: $14.60k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Tom Ashbrook: $14.47k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Adrian Barton: $14.18k</a:t>
            </a:r>
          </a:p>
          <a:p>
            <a:r>
              <a:rPr lang="en-US" dirty="0"/>
              <a:t>Top 5 customers approximately $90k which is equivalent to 4% of total revenue.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7278B-B239-5D65-5657-A9BEE7661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158" y="123428"/>
            <a:ext cx="4532664" cy="277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2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A02D-FCC4-E846-C65F-65C0DD1B9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461" y="76200"/>
            <a:ext cx="4611689" cy="504825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Sum of products by sales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CE260-4CD6-29F9-2C97-11E3B0718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306" y="76200"/>
            <a:ext cx="4407015" cy="2333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068337-CCEA-6934-F369-2ABCDB71DE3C}"/>
              </a:ext>
            </a:extLst>
          </p:cNvPr>
          <p:cNvSpPr txBox="1"/>
          <p:nvPr/>
        </p:nvSpPr>
        <p:spPr>
          <a:xfrm>
            <a:off x="1752600" y="819150"/>
            <a:ext cx="5448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There’s a big gap between the first product and the second product in term if sales .</a:t>
            </a:r>
          </a:p>
          <a:p>
            <a:r>
              <a:rPr lang="en-US" dirty="0"/>
              <a:t>The first product drives 36% of the top 6 product revenue at $62k as a total of sale made.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9660C-EAFF-BE1E-C177-A1C9E4DAD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47" y="2333804"/>
            <a:ext cx="4541704" cy="31811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A24624-C3D3-2AE2-3375-D82ED0BDB53F}"/>
              </a:ext>
            </a:extLst>
          </p:cNvPr>
          <p:cNvSpPr txBox="1"/>
          <p:nvPr/>
        </p:nvSpPr>
        <p:spPr>
          <a:xfrm>
            <a:off x="6191250" y="3848100"/>
            <a:ext cx="5448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class as a mode of shipping orders produced the highest sale so far. More than half (59.12%) sales used the standard ship mode </a:t>
            </a:r>
            <a:r>
              <a:rPr lang="en-US" dirty="0" err="1"/>
              <a:t>i.e</a:t>
            </a:r>
            <a:r>
              <a:rPr lang="en-US" dirty="0"/>
              <a:t> most  customers prefer to use the standard shipping mode to get orders across to themselves.</a:t>
            </a:r>
          </a:p>
        </p:txBody>
      </p:sp>
    </p:spTree>
    <p:extLst>
      <p:ext uri="{BB962C8B-B14F-4D97-AF65-F5344CB8AC3E}">
        <p14:creationId xmlns:p14="http://schemas.microsoft.com/office/powerpoint/2010/main" val="123324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CB0008-6596-7EA4-9F73-60C69A8C5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1" y="0"/>
            <a:ext cx="119296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8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F2FC1-6778-5A29-7EC9-88F18AD1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818" y="0"/>
            <a:ext cx="9250364" cy="428625"/>
          </a:xfrm>
        </p:spPr>
        <p:txBody>
          <a:bodyPr>
            <a:normAutofit/>
          </a:bodyPr>
          <a:lstStyle/>
          <a:p>
            <a:r>
              <a:rPr lang="en-US" sz="2000" dirty="0"/>
              <a:t>Profitability and loss deep dive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2EB5D-1CE3-01CF-F270-448BD14DC442}"/>
              </a:ext>
            </a:extLst>
          </p:cNvPr>
          <p:cNvSpPr txBox="1"/>
          <p:nvPr/>
        </p:nvSpPr>
        <p:spPr>
          <a:xfrm>
            <a:off x="1657350" y="514350"/>
            <a:ext cx="10325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grow profits </a:t>
            </a:r>
            <a:r>
              <a:rPr lang="en-US" dirty="0" err="1"/>
              <a:t>withot</a:t>
            </a:r>
            <a:r>
              <a:rPr lang="en-US" dirty="0"/>
              <a:t> fixing leaks that causes loss, certain questions needs to be addressed in order to grow profits. Questions like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Where are we losing money?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Where are those leaks that cause loss?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Where can we come to </a:t>
            </a:r>
            <a:r>
              <a:rPr lang="en-US" dirty="0" err="1"/>
              <a:t>to</a:t>
            </a:r>
            <a:r>
              <a:rPr lang="en-US" dirty="0"/>
              <a:t> reduce the loss and stop these leaks?</a:t>
            </a:r>
          </a:p>
          <a:p>
            <a:r>
              <a:rPr lang="en-US" dirty="0"/>
              <a:t>Likely drivers to investigate;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Discounts too high on furniture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Unprofitable products in south\central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High shipping cost for low value orders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595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902D-35D8-BBEF-F3C2-50A1FD91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112" y="571501"/>
            <a:ext cx="9574214" cy="438150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Summary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E702F-7FC1-F610-C9FF-5E903EB8400B}"/>
              </a:ext>
            </a:extLst>
          </p:cNvPr>
          <p:cNvSpPr txBox="1"/>
          <p:nvPr/>
        </p:nvSpPr>
        <p:spPr>
          <a:xfrm>
            <a:off x="1666875" y="1009651"/>
            <a:ext cx="1036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Superstore is growing, but profit is being eaten by losses and regional imbalance</a:t>
            </a:r>
          </a:p>
          <a:p>
            <a:r>
              <a:rPr lang="en-US" dirty="0"/>
              <a:t>Growth opportunities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Geography\ regional; growth sales in the south region with targeted promos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product; upsell technology accessories to office supplies buyers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Operations; reduce loss by 50%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Launch </a:t>
            </a:r>
            <a:r>
              <a:rPr lang="en-US" dirty="0" err="1"/>
              <a:t>vip</a:t>
            </a:r>
            <a:r>
              <a:rPr lang="en-US" dirty="0"/>
              <a:t> program for top 20 customers.</a:t>
            </a:r>
          </a:p>
        </p:txBody>
      </p:sp>
    </p:spTree>
    <p:extLst>
      <p:ext uri="{BB962C8B-B14F-4D97-AF65-F5344CB8AC3E}">
        <p14:creationId xmlns:p14="http://schemas.microsoft.com/office/powerpoint/2010/main" val="8480351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2658</TotalTime>
  <Words>542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</vt:lpstr>
      <vt:lpstr>Parallax</vt:lpstr>
      <vt:lpstr>  Analysis on the   Sample – Superstore(2014-2017)  BY  Ezeanyaso Ifeoma Love </vt:lpstr>
      <vt:lpstr>Key KPIs  overall business health 2014-2017       </vt:lpstr>
      <vt:lpstr>Sales trend over the years sum of sales by year </vt:lpstr>
      <vt:lpstr>Regional performance  sales by region </vt:lpstr>
      <vt:lpstr>Product category analysis  sales by category </vt:lpstr>
      <vt:lpstr>Top customers-relationship focus  top 5 customers by sales</vt:lpstr>
      <vt:lpstr>Sum of products by sales </vt:lpstr>
      <vt:lpstr>PowerPoint Presentation</vt:lpstr>
      <vt:lpstr>Profitability and loss deep dive </vt:lpstr>
      <vt:lpstr>Summary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ifeoma ezeanyaso</dc:creator>
  <cp:lastModifiedBy>ifeoma ezeanyaso</cp:lastModifiedBy>
  <cp:revision>2</cp:revision>
  <dcterms:created xsi:type="dcterms:W3CDTF">2026-07-28T19:56:33Z</dcterms:created>
  <dcterms:modified xsi:type="dcterms:W3CDTF">2026-07-30T16:34:29Z</dcterms:modified>
</cp:coreProperties>
</file>